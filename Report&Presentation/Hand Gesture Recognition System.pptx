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ajdhani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ajdhani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ajdhan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b74596c52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b74596c5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98315"/>
            <a:ext cx="11601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HAND GESTURE RECOGNITION SYSTEM (ASL)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3661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Bridging Communication with AI &amp; Computer Vision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417665"/>
            <a:ext cx="762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Mahmoud Elsherbiny | Samy Ali | Mazen Ibrahim | Ahmed Ali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893915"/>
            <a:ext cx="762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Kerols Ibrahim | Yousef Ahmed | Fouad Hassan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95275" y="1998315"/>
            <a:ext cx="11601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HAND GESTURE RECOGNITION SYSTEM (ASL)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3636615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Bridging Communication with AI &amp; Computer Vision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286000" y="4417665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Mahmoud Elsherbiny | Samy Ali | Mazen Ibrahim | Ahmed Ali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286000" y="4893915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irollos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safwat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| Yousef Ahmed | Fouad Hassan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1294507"/>
            <a:ext cx="58007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PROJECT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2027932"/>
            <a:ext cx="55245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2685157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PROJECT GOAL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3218557"/>
            <a:ext cx="5524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Develop an intelligent system to recognize American Sign Language (ASL) gestures using computer vision to facilitate communication for deaf individuals.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4361557"/>
            <a:ext cx="5800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CORE TECHNOLOGY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894957"/>
            <a:ext cx="5524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Leverages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MediaPipe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to extract 21 3D hand landmarks from a live webcam feed. These landmarks feed into a trained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MLP Neural Network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for real-time alphabet classification.</a:t>
            </a:r>
            <a:endParaRPr/>
          </a:p>
        </p:txBody>
      </p:sp>
      <p:pic>
        <p:nvPicPr>
          <p:cNvPr id="106" name="Google Shape;106;p14" title="hand-landmarks.png"/>
          <p:cNvPicPr preferRelativeResize="0"/>
          <p:nvPr/>
        </p:nvPicPr>
        <p:blipFill rotWithShape="1">
          <a:blip r:embed="rId4">
            <a:alphaModFix/>
          </a:blip>
          <a:srcRect b="0" l="0" r="60140" t="0"/>
          <a:stretch/>
        </p:blipFill>
        <p:spPr>
          <a:xfrm>
            <a:off x="6096000" y="0"/>
            <a:ext cx="631030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558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DATA COLLECTION &amp; OVERVIEW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684287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85875" y="278040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Source: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Kaggle ASL Alphabet Dataset.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85875" y="325665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Volume: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63,673 Total Samples Used.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85875" y="373290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Classes: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28 total (A-Z, "del", "space").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285875" y="4209157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Feature 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Instead of raw pixels, we extracted 21 landmarks × 3 coordinates (x,y,z) =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63 features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per image.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85875" y="5256907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Split: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85% Training / 15% Validation.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7558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994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27570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7519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22820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52759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275582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2294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42294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42294"/>
            <a:ext cx="349254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DATA PREPROCESSING PIPELINE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684287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44218" y="3604319"/>
            <a:ext cx="31471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FEATURE EXTRACTION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19150" y="4137719"/>
            <a:ext cx="29972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MediaPipe detects 21 hand landmarks. We extract (x, y, z) coordinates for a lightweight representation.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522518" y="3604319"/>
            <a:ext cx="31471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VECTORIZATION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597449" y="4137719"/>
            <a:ext cx="29972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Coordinates are flattened into a single, normalized 63-feature vector, significantly lighter than raw images.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00817" y="3604319"/>
            <a:ext cx="31471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ENCODING &amp; SPLIT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75749" y="4137719"/>
            <a:ext cx="29972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Labels are one-hot encoded. Data is split using stratified sampling to maintain class balance.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9089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90899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9987" y="2908994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KEY OBJECTIVES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684287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2009775" y="3066157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Landmark Detection: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Detect and extract 21 3D hand landmarks in real-time using MediaPipe Hands.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2009775" y="3542407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Network Design: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Build a fully connected neural network (MLP) using TensorFlow/Keras.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2009775" y="4018657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Classification: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Train the model to accurately classify 28 ASL classes (A-Z, space, del).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2009775" y="4494907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Evaluation: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Utilize visualization metrics to ensure high performance and generalization.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2009775" y="4971157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Deployment: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Deploy the trained model into a responsive, real-time webcam system.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08520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5614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03770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5139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99020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7605"/>
            <a:ext cx="1104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91365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PROJECT PIPELINE: SYSTEM FLOW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64708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4125" y="-311400"/>
            <a:ext cx="12606125" cy="71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1354610" y="4504039"/>
            <a:ext cx="157500" cy="1593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298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775" lIns="95575" spcFirstLastPara="1" rIns="95575" wrap="square" tIns="47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324866" y="4504039"/>
            <a:ext cx="157500" cy="1593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298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775" lIns="95575" spcFirstLastPara="1" rIns="95575" wrap="square" tIns="47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295123" y="4504039"/>
            <a:ext cx="157500" cy="1593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298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775" lIns="95575" spcFirstLastPara="1" rIns="95575" wrap="square" tIns="47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0265379" y="4504039"/>
            <a:ext cx="157500" cy="1593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2987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775" lIns="95575" spcFirstLastPara="1" rIns="95575" wrap="square" tIns="47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76787" y="1008177"/>
            <a:ext cx="11995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63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SYSTEM WORKFLOW</a:t>
            </a:r>
            <a:endParaRPr sz="1463"/>
          </a:p>
        </p:txBody>
      </p:sp>
      <p:sp>
        <p:nvSpPr>
          <p:cNvPr id="177" name="Google Shape;177;p18"/>
          <p:cNvSpPr/>
          <p:nvPr/>
        </p:nvSpPr>
        <p:spPr>
          <a:xfrm>
            <a:off x="176787" y="1774905"/>
            <a:ext cx="11424300" cy="9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7775" lIns="95575" spcFirstLastPara="1" rIns="95575" wrap="square" tIns="47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76787" y="4583699"/>
            <a:ext cx="11424300" cy="20100"/>
          </a:xfrm>
          <a:prstGeom prst="roundRect">
            <a:avLst>
              <a:gd fmla="val 16667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47775" lIns="95575" spcFirstLastPara="1" rIns="95575" wrap="square" tIns="47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13956" y="4862509"/>
            <a:ext cx="2638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5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ACQUISITION</a:t>
            </a:r>
            <a:endParaRPr sz="1463"/>
          </a:p>
        </p:txBody>
      </p:sp>
      <p:sp>
        <p:nvSpPr>
          <p:cNvPr id="180" name="Google Shape;180;p18"/>
          <p:cNvSpPr txBox="1"/>
          <p:nvPr/>
        </p:nvSpPr>
        <p:spPr>
          <a:xfrm>
            <a:off x="176787" y="5420129"/>
            <a:ext cx="2513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8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Webcam / Dataset</a:t>
            </a:r>
            <a:endParaRPr sz="1463"/>
          </a:p>
        </p:txBody>
      </p:sp>
      <p:sp>
        <p:nvSpPr>
          <p:cNvPr id="181" name="Google Shape;181;p18"/>
          <p:cNvSpPr txBox="1"/>
          <p:nvPr/>
        </p:nvSpPr>
        <p:spPr>
          <a:xfrm>
            <a:off x="3084212" y="3528204"/>
            <a:ext cx="2638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5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PREPROCESSING</a:t>
            </a:r>
            <a:endParaRPr sz="1463"/>
          </a:p>
        </p:txBody>
      </p:sp>
      <p:sp>
        <p:nvSpPr>
          <p:cNvPr id="182" name="Google Shape;182;p18"/>
          <p:cNvSpPr txBox="1"/>
          <p:nvPr/>
        </p:nvSpPr>
        <p:spPr>
          <a:xfrm>
            <a:off x="3147043" y="4085824"/>
            <a:ext cx="2513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8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MediaPipe Extraction</a:t>
            </a:r>
            <a:endParaRPr sz="1463"/>
          </a:p>
        </p:txBody>
      </p:sp>
      <p:sp>
        <p:nvSpPr>
          <p:cNvPr id="183" name="Google Shape;183;p18"/>
          <p:cNvSpPr txBox="1"/>
          <p:nvPr/>
        </p:nvSpPr>
        <p:spPr>
          <a:xfrm>
            <a:off x="6054469" y="4862509"/>
            <a:ext cx="2638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5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INFERENCE</a:t>
            </a:r>
            <a:endParaRPr sz="1463"/>
          </a:p>
        </p:txBody>
      </p:sp>
      <p:sp>
        <p:nvSpPr>
          <p:cNvPr id="184" name="Google Shape;184;p18"/>
          <p:cNvSpPr txBox="1"/>
          <p:nvPr/>
        </p:nvSpPr>
        <p:spPr>
          <a:xfrm>
            <a:off x="6117299" y="5420129"/>
            <a:ext cx="2513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8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MLP Prediction</a:t>
            </a:r>
            <a:endParaRPr sz="1463"/>
          </a:p>
        </p:txBody>
      </p:sp>
      <p:sp>
        <p:nvSpPr>
          <p:cNvPr id="185" name="Google Shape;185;p18"/>
          <p:cNvSpPr txBox="1"/>
          <p:nvPr/>
        </p:nvSpPr>
        <p:spPr>
          <a:xfrm>
            <a:off x="9024726" y="3528204"/>
            <a:ext cx="2638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5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SMOOTHING</a:t>
            </a:r>
            <a:endParaRPr sz="1463"/>
          </a:p>
        </p:txBody>
      </p:sp>
      <p:sp>
        <p:nvSpPr>
          <p:cNvPr id="186" name="Google Shape;186;p18"/>
          <p:cNvSpPr txBox="1"/>
          <p:nvPr/>
        </p:nvSpPr>
        <p:spPr>
          <a:xfrm>
            <a:off x="9087557" y="4085824"/>
            <a:ext cx="2513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68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Temporal Filtering</a:t>
            </a:r>
            <a:endParaRPr sz="146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4812"/>
            <a:ext cx="5286375" cy="4211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4812"/>
            <a:ext cx="5286375" cy="421168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MLP MODEL ARCHITECTURE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684287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866775" y="263678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LAYER STRUCTURE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66775" y="317018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63 neurons (Feature Vector)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66775" y="364643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Hidden 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256 neurons (ReLU)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412268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Hidden 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128 neurons (ReLU)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459893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Hidden 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64 neurons (ReLU)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507518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Output: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28 neurons (Softmax)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629400" y="263678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5CF6"/>
                </a:solidFill>
                <a:latin typeface="Rajdhani"/>
                <a:ea typeface="Rajdhani"/>
                <a:cs typeface="Rajdhani"/>
                <a:sym typeface="Rajdhani"/>
              </a:rPr>
              <a:t>OPTIMIZATION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629400" y="317018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Optimizer: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Adam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629400" y="364643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Loss Function: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Categorical Crossentropy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29400" y="4122687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Regularization: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Batch Normalization &amp; Dropout layers implemented to prevent overfitting and ensure stability.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573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71500" y="90413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TRAINING PROCESS &amp; CALLBACKS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1637555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503798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RESULT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557138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Smooth convergence with minimal overfitting, achieving 99.04% validation accuracy.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285875" y="218048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Epochs: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Set for 100, halted at 72 by Early Stopping.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285875" y="265673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EarlyStopping: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Monitors validation loss to prevent overfitting.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285875" y="341873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ModelCheckpoint: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Saves the best weights based on validation accuracy.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285875" y="418073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ReduceLROnPlateau: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Lowers learning rate when performance plateaus.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1995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6757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377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1997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title="Picture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775" y="2466225"/>
            <a:ext cx="6217226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3656855"/>
            <a:ext cx="55245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70855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1370855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370855"/>
            <a:ext cx="342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71500" y="24690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FINAL PERFORMANCE METRICS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98033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1" title="Picture2.jpg"/>
          <p:cNvPicPr preferRelativeResize="0"/>
          <p:nvPr/>
        </p:nvPicPr>
        <p:blipFill rotWithShape="1">
          <a:blip r:embed="rId7">
            <a:alphaModFix/>
          </a:blip>
          <a:srcRect b="4693" l="0" r="0" t="4702"/>
          <a:stretch/>
        </p:blipFill>
        <p:spPr>
          <a:xfrm>
            <a:off x="3333750" y="3656850"/>
            <a:ext cx="5524500" cy="32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857250" y="1685180"/>
            <a:ext cx="28575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99.04%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366837" y="2751980"/>
            <a:ext cx="18383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Validation Accuracy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4667250" y="1685180"/>
            <a:ext cx="28575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0.037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386387" y="2751980"/>
            <a:ext cx="1419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Validation Loss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477250" y="1685180"/>
            <a:ext cx="28575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25 FPS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148762" y="2751980"/>
            <a:ext cx="1514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Inference Speed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4812"/>
            <a:ext cx="5286375" cy="4211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74812"/>
            <a:ext cx="5286375" cy="4211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CHALLENGES &amp; SOLUTIONS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71500" y="1684287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66775" y="263678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Rajdhani"/>
                <a:ea typeface="Rajdhani"/>
                <a:cs typeface="Rajdhani"/>
                <a:sym typeface="Rajdhani"/>
              </a:rPr>
              <a:t>OVERFITTING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66775" y="317018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Model began memorizing training data (high train acc, plateauing val acc).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866775" y="413221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Implemented Dropout, Batch Normalization, and Early Stopping to ensure generalization.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29400" y="2636787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Rajdhani"/>
                <a:ea typeface="Rajdhani"/>
                <a:cs typeface="Rajdhani"/>
                <a:sym typeface="Rajdhani"/>
              </a:rPr>
              <a:t>FRAME INSTABILITY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29400" y="317018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Real-time predictions flickered rapidly due to minor hand wobbles.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629400" y="4132212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Temporal Smoothing.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Stored last 5 predictions and displayed only the most frequent label (mode). This stabilized output dramatically.</a:t>
            </a:r>
            <a:endParaRPr/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6558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655837"/>
            <a:ext cx="3333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230"/>
            <a:ext cx="11049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571500" y="58028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DEPLOYMENT ARCHITECTURE: REAL-TIME COMMUNICATION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71500" y="1313705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571500" y="589523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Frames are sent from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Custom Browser Frontend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(HTML/JS) via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WebSockets (100ms/frame)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to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FastAPI Server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for inference, ensuring low-latency communication.</a:t>
            </a:r>
            <a:endParaRPr/>
          </a:p>
        </p:txBody>
      </p:sp>
      <p:pic>
        <p:nvPicPr>
          <p:cNvPr id="269" name="Google Shape;269;p23" title="Picture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536163"/>
            <a:ext cx="12192000" cy="41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FUTURE DEVELOPMENT &amp; MARKETING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571500" y="1684287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2009775" y="3304282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Dynamic Gestures: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Expand dataset and model to include moving gestures (full words/phrases).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2009775" y="3780532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Edge Deployment: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Model is lightweight (61k parameters), ideal for mobile/IoT devices.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2009775" y="4256782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Marketing: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Target applications for accessible communication and language learning.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2009775" y="4733032"/>
            <a:ext cx="8505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Bidirectional System: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Integrate Text-to-Speech (TTS) for a full conversational tool.</a:t>
            </a:r>
            <a:endParaRPr/>
          </a:p>
        </p:txBody>
      </p:sp>
      <p:pic>
        <p:nvPicPr>
          <p:cNvPr descr="image.png" id="281" name="Google Shape;2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32333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7995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27583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475208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571500" y="1551682"/>
            <a:ext cx="58007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TOOLS &amp; LIBRARIES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71500" y="2285107"/>
            <a:ext cx="55245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1285875" y="282803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Python: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Core logic.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1285875" y="330428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TensorFlow/Keras: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MLP Model.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285875" y="378053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MediaPipe: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Landmark Detection.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285875" y="425678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OpenCV: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Image Processing.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285875" y="473303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FastAPI: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Backend WebSocket Server.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285875" y="520928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NumPy/Pandas: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Data Manipulation.</a:t>
            </a:r>
            <a:endParaRPr/>
          </a:p>
        </p:txBody>
      </p:sp>
      <p:pic>
        <p:nvPicPr>
          <p:cNvPr descr="image.png" id="298" name="Google Shape;2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470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32333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7995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27583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7520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522833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1371600" y="2762250"/>
            <a:ext cx="8781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1"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thanks you for your attention</a:t>
            </a:r>
            <a:endParaRPr b="1"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 sz="3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